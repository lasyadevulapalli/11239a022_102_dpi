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6.png"/><Relationship Id="rId8" Type="http://schemas.openxmlformats.org/officeDocument/2006/relationships/image" Target="../media/image-9-6.png"/><Relationship Id="rId9" Type="http://schemas.openxmlformats.org/officeDocument/2006/relationships/image" Target="../media/image-9-6.png"/><Relationship Id="rId10" Type="http://schemas.openxmlformats.org/officeDocument/2006/relationships/image" Target="../media/image-9-6.png"/><Relationship Id="rId11" Type="http://schemas.openxmlformats.org/officeDocument/2006/relationships/image" Target="../media/image-9-6.png"/><Relationship Id="rId12" Type="http://schemas.openxmlformats.org/officeDocument/2006/relationships/image" Target="../media/image-9-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2.png"/><Relationship Id="rId7" Type="http://schemas.openxmlformats.org/officeDocument/2006/relationships/image" Target="../media/image-12-2.png"/><Relationship Id="rId8" Type="http://schemas.openxmlformats.org/officeDocument/2006/relationships/image" Target="../media/image-12-2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0.png"/><Relationship Id="rId12" Type="http://schemas.openxmlformats.org/officeDocument/2006/relationships/image" Target="../media/image-12-10.png"/><Relationship Id="rId13" Type="http://schemas.openxmlformats.org/officeDocument/2006/relationships/image" Target="../media/image-12-10.png"/><Relationship Id="rId14" Type="http://schemas.openxmlformats.org/officeDocument/2006/relationships/image" Target="../media/image-12-10.png"/><Relationship Id="rId15" Type="http://schemas.openxmlformats.org/officeDocument/2006/relationships/image" Target="../media/image-12-10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5486400" cy="5486400"/>
          </a:xfrm>
          <a:prstGeom prst="oval">
            <a:avLst/>
          </a:prstGeom>
          <a:solidFill>
            <a:srgbClr val="16234F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5029200" cy="5029200"/>
          </a:xfrm>
          <a:prstGeom prst="oval">
            <a:avLst/>
          </a:prstGeom>
          <a:solidFill>
            <a:srgbClr val="16234F"/>
          </a:solidFill>
          <a:ln/>
        </p:spPr>
      </p:sp>
      <p:pic>
        <p:nvPicPr>
          <p:cNvPr id="5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7724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77724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ENTERPRISE PORTAL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AccrediVault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68680" y="3364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 &amp; NBA Accreditation Evidence Management Platform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86968" y="4041648"/>
            <a:ext cx="2377440" cy="0"/>
          </a:xfrm>
          <a:prstGeom prst="line">
            <a:avLst/>
          </a:prstGeom>
          <a:noFill/>
          <a:ln w="31750">
            <a:solidFill>
              <a:srgbClr val="2E5C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22452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for the digital collection, review, approval, storage,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monitoring of institutional accreditation evidence.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4956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5266944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16234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5449824"/>
            <a:ext cx="0" cy="868680"/>
          </a:xfrm>
          <a:prstGeom prst="line">
            <a:avLst/>
          </a:prstGeom>
          <a:noFill/>
          <a:ln w="12700">
            <a:solidFill>
              <a:srgbClr val="2C3D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5413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97280" y="57058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Lasya Devulapalli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97280" y="60350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Vyasa Mayuri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55080" y="5413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080" y="57058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E. Sankar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355080" y="60350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Digitizing Institutional Accreditation Evidence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 and NBA accreditation requires institutions to continuously collect, organize, and present documentary evidence of academic and institutional activity. AccrediVault is a centralized, role-based web platform built to digitize this entire evidence lifecycle — from faculty submission through multi-level approval, digital sign-off, secure storage, and tamper-evident audit tracking.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EDFC"/>
          </a:solidFill>
          <a:ln/>
        </p:spPr>
      </p:sp>
      <p:pic>
        <p:nvPicPr>
          <p:cNvPr id="6" name="Image 0" descr="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5204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015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36576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institutional roles, each with a dedicated workspace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EDFC"/>
          </a:solidFill>
          <a:ln/>
        </p:spPr>
      </p:sp>
      <p:pic>
        <p:nvPicPr>
          <p:cNvPr id="10" name="Image 1" descr="icons/rout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788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0599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Workflow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97280" y="431596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digital review and approval replacing manual files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47457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EDFC"/>
          </a:solidFill>
          <a:ln/>
        </p:spPr>
      </p:sp>
      <p:pic>
        <p:nvPicPr>
          <p:cNvPr id="14" name="Image 2" descr="icons/fingerprin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83717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71830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Trail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97280" y="4974336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audit log for every recorded action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784848" y="1389888"/>
            <a:ext cx="4946904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18" name="Image 3" descr="images/cropped/Screenshot_2026-08-16_132815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12280" y="1417320"/>
            <a:ext cx="4892040" cy="28895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812280" y="3977640"/>
            <a:ext cx="489204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6922008" y="3977640"/>
            <a:ext cx="4672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Login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812280" y="4526280"/>
            <a:ext cx="4892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022592" y="4645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COVERS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022592" y="4919472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submission, HOD &amp; Principal approval, simulated digital signature, central repository, QR/ID document verification, SHA-256 audit trail, and accreditation readiness monitoring — implemented and demonstrable end-to-end.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Institutions Need a Centralized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pic>
        <p:nvPicPr>
          <p:cNvPr id="6" name="Image 0" descr="icons/file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196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295144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Evidence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260604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evidence remains spread across departments, folders and individual systems.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0832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pic>
        <p:nvPicPr>
          <p:cNvPr id="11" name="Image 1" descr="icons/history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8196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295144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Approvals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60604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Paper-based, multi-level approval processes are time-consuming and hard to coordinate.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38744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9912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pic>
        <p:nvPicPr>
          <p:cNvPr id="16" name="Image 2" descr="icons/chart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81965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9912" y="2295144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Status Visibility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39912" y="260604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where a document stands in the approval chain is difficult without a central system.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7307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pic>
        <p:nvPicPr>
          <p:cNvPr id="21" name="Image 3" descr="icons/fingerprint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0416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" y="4517136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Audit History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4088" y="4828032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 complete, chronological record of institutional actions is hard to guarantee manually.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70832" y="37307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pic>
        <p:nvPicPr>
          <p:cNvPr id="26" name="Image 4" descr="icons/alert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04164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517136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Undetectable Tampering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4828032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modification of audit or approval records can go unnoticed in file-based systems.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38744" y="37307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9912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pic>
        <p:nvPicPr>
          <p:cNvPr id="31" name="Image 5" descr="icons/search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04164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9912" y="4517136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Verify Authenticity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39912" y="4828032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that a document is genuine and unaltered is difficult without a verification mechanism.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02920" y="5806440"/>
            <a:ext cx="11183112" cy="594360"/>
          </a:xfrm>
          <a:prstGeom prst="roundRect">
            <a:avLst>
              <a:gd name="adj" fmla="val 9231"/>
            </a:avLst>
          </a:prstGeom>
          <a:solidFill>
            <a:srgbClr val="0F1B3D"/>
          </a:solidFill>
          <a:ln/>
        </p:spPr>
      </p:sp>
      <p:sp>
        <p:nvSpPr>
          <p:cNvPr id="35" name="Text 27"/>
          <p:cNvSpPr/>
          <p:nvPr/>
        </p:nvSpPr>
        <p:spPr>
          <a:xfrm>
            <a:off x="731520" y="58064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readiness lacks a single, centralized, trustworthy source of truth.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Prototype Sets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609344"/>
            <a:ext cx="457200" cy="603504"/>
          </a:xfrm>
          <a:prstGeom prst="roundRect">
            <a:avLst>
              <a:gd name="adj" fmla="val 16000"/>
            </a:avLst>
          </a:prstGeom>
          <a:solidFill>
            <a:srgbClr val="2E5CE6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60934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9105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55448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Evidence Repository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80160" y="1901952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single institutional repository for all accreditation evidence.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1463040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64224" y="1609344"/>
            <a:ext cx="457200" cy="603504"/>
          </a:xfrm>
          <a:prstGeom prst="roundRect">
            <a:avLst>
              <a:gd name="adj" fmla="val 16000"/>
            </a:avLst>
          </a:prstGeom>
          <a:solidFill>
            <a:srgbClr val="2E5CE6"/>
          </a:solidFill>
          <a:ln/>
        </p:spPr>
      </p:sp>
      <p:sp>
        <p:nvSpPr>
          <p:cNvPr id="12" name="Text 9"/>
          <p:cNvSpPr/>
          <p:nvPr/>
        </p:nvSpPr>
        <p:spPr>
          <a:xfrm>
            <a:off x="6364224" y="160934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1" descr="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59105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55448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995160" y="1901952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role-based access control for every category of institutional user.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254203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9224" y="2688336"/>
            <a:ext cx="457200" cy="603504"/>
          </a:xfrm>
          <a:prstGeom prst="roundRect">
            <a:avLst>
              <a:gd name="adj" fmla="val 16000"/>
            </a:avLst>
          </a:prstGeom>
          <a:solidFill>
            <a:srgbClr val="2E5CE6"/>
          </a:solidFill>
          <a:ln/>
        </p:spPr>
      </p:sp>
      <p:sp>
        <p:nvSpPr>
          <p:cNvPr id="18" name="Text 14"/>
          <p:cNvSpPr/>
          <p:nvPr/>
        </p:nvSpPr>
        <p:spPr>
          <a:xfrm>
            <a:off x="649224" y="268833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pic>
        <p:nvPicPr>
          <p:cNvPr id="19" name="Image 2" descr="icons/rout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6700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263347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Approval Workflow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280160" y="298094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paperless, multi-stage approval workflow for evidence sign-off.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17920" y="254203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64224" y="2688336"/>
            <a:ext cx="457200" cy="603504"/>
          </a:xfrm>
          <a:prstGeom prst="roundRect">
            <a:avLst>
              <a:gd name="adj" fmla="val 16000"/>
            </a:avLst>
          </a:prstGeom>
          <a:solidFill>
            <a:srgbClr val="2E5CE6"/>
          </a:solidFill>
          <a:ln/>
        </p:spPr>
      </p:sp>
      <p:sp>
        <p:nvSpPr>
          <p:cNvPr id="24" name="Text 19"/>
          <p:cNvSpPr/>
          <p:nvPr/>
        </p:nvSpPr>
        <p:spPr>
          <a:xfrm>
            <a:off x="6364224" y="268833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pic>
        <p:nvPicPr>
          <p:cNvPr id="25" name="Image 3" descr="icons/signatur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67004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263347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Digital Signature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995160" y="298094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simulated digital signature for institutional-level sign-off.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2920" y="36210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9224" y="3767328"/>
            <a:ext cx="457200" cy="603504"/>
          </a:xfrm>
          <a:prstGeom prst="roundRect">
            <a:avLst>
              <a:gd name="adj" fmla="val 16000"/>
            </a:avLst>
          </a:prstGeom>
          <a:solidFill>
            <a:srgbClr val="2E5CE6"/>
          </a:solidFill>
          <a:ln/>
        </p:spPr>
      </p:sp>
      <p:sp>
        <p:nvSpPr>
          <p:cNvPr id="30" name="Text 24"/>
          <p:cNvSpPr/>
          <p:nvPr/>
        </p:nvSpPr>
        <p:spPr>
          <a:xfrm>
            <a:off x="649224" y="376732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pic>
        <p:nvPicPr>
          <p:cNvPr id="31" name="Image 4" descr="icons/fingerprin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7490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45920" y="371246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Trail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280160" y="4059936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SHA-256 tamper-evident audit trail across recorded actions.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217920" y="36210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364224" y="3767328"/>
            <a:ext cx="457200" cy="603504"/>
          </a:xfrm>
          <a:prstGeom prst="roundRect">
            <a:avLst>
              <a:gd name="adj" fmla="val 16000"/>
            </a:avLst>
          </a:prstGeom>
          <a:solidFill>
            <a:srgbClr val="2E5CE6"/>
          </a:solidFill>
          <a:ln/>
        </p:spPr>
      </p:sp>
      <p:sp>
        <p:nvSpPr>
          <p:cNvPr id="36" name="Text 29"/>
          <p:cNvSpPr/>
          <p:nvPr/>
        </p:nvSpPr>
        <p:spPr>
          <a:xfrm>
            <a:off x="6364224" y="376732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pic>
        <p:nvPicPr>
          <p:cNvPr id="37" name="Image 5" descr="icons/qrcod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3749040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360920" y="371246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6995160" y="4059936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QR / verification-ID based document authenticity verification.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502920" y="4700016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9224" y="4846320"/>
            <a:ext cx="457200" cy="603504"/>
          </a:xfrm>
          <a:prstGeom prst="roundRect">
            <a:avLst>
              <a:gd name="adj" fmla="val 16000"/>
            </a:avLst>
          </a:prstGeom>
          <a:solidFill>
            <a:srgbClr val="2E5CE6"/>
          </a:solidFill>
          <a:ln/>
        </p:spPr>
      </p:sp>
      <p:sp>
        <p:nvSpPr>
          <p:cNvPr id="42" name="Text 34"/>
          <p:cNvSpPr/>
          <p:nvPr/>
        </p:nvSpPr>
        <p:spPr>
          <a:xfrm>
            <a:off x="649224" y="484632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pic>
        <p:nvPicPr>
          <p:cNvPr id="43" name="Image 6" descr="icons/char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4828032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645920" y="479145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Monitoring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1280160" y="5138928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accreditation evidence completeness and institutional readiness status.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Institutional Roles, Five Dedicated Workspaces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492240" cy="566928"/>
          </a:xfrm>
          <a:prstGeom prst="roundRect">
            <a:avLst>
              <a:gd name="adj" fmla="val 8065"/>
            </a:avLst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8132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48256"/>
            <a:ext cx="6492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67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5CE6"/>
          </a:solidFill>
          <a:ln/>
        </p:spPr>
      </p:sp>
      <p:pic>
        <p:nvPicPr>
          <p:cNvPr id="9" name="Image 0" descr="icons/facul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4942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04825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834640" y="204825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submission and tracking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670048"/>
            <a:ext cx="6492240" cy="621792"/>
          </a:xfrm>
          <a:prstGeom prst="rect">
            <a:avLst/>
          </a:prstGeom>
          <a:solidFill>
            <a:srgbClr val="F1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788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pic>
        <p:nvPicPr>
          <p:cNvPr id="14" name="Image 1" descr="icons/ho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87121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07008" y="267004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834640" y="267004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evidence review and approval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3291840"/>
            <a:ext cx="6492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34107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pic>
        <p:nvPicPr>
          <p:cNvPr id="19" name="Image 2" descr="icons/princip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493008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7008" y="32918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2834640" y="329184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and simulated digital sign-off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913632"/>
            <a:ext cx="6492240" cy="621792"/>
          </a:xfrm>
          <a:prstGeom prst="rect">
            <a:avLst/>
          </a:prstGeom>
          <a:solidFill>
            <a:srgbClr val="F1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5800" y="40325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24" name="Image 3" descr="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11480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07008" y="391363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NAAC/NBA Coordinator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2834640" y="391363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readiness and evidence monitoring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02920" y="4535424"/>
            <a:ext cx="6492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85800" y="46542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pic>
        <p:nvPicPr>
          <p:cNvPr id="29" name="Image 4" descr="icons/adm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736592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07008" y="453542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2834640" y="453542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administrative management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02920" y="5294376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E8EDFC"/>
          </a:solidFill>
          <a:ln/>
        </p:spPr>
      </p:sp>
      <p:sp>
        <p:nvSpPr>
          <p:cNvPr id="33" name="Text 26"/>
          <p:cNvSpPr/>
          <p:nvPr/>
        </p:nvSpPr>
        <p:spPr>
          <a:xfrm>
            <a:off x="713232" y="529437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authenticates into a distinct workspace with role-specific sidebar navigation and permissions.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242048" y="1453896"/>
            <a:ext cx="4489704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35" name="Image 5" descr="images/cropped/Screenshot_2026-08-16_143644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69480" y="1481328"/>
            <a:ext cx="4434840" cy="278892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7269480" y="3941064"/>
            <a:ext cx="443484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7379208" y="3941064"/>
            <a:ext cx="4215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Role-Based Workspace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7242048" y="4407408"/>
            <a:ext cx="4489704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39" name="Image 6" descr="images/cropped/Screenshot_2026-08-16_145459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269480" y="4434840"/>
            <a:ext cx="4434840" cy="173736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7269480" y="5843016"/>
            <a:ext cx="443484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41" name="Text 32"/>
          <p:cNvSpPr/>
          <p:nvPr/>
        </p:nvSpPr>
        <p:spPr>
          <a:xfrm>
            <a:off x="7379208" y="5843016"/>
            <a:ext cx="4215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Approval Workspace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EVIDENCE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Evidence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29215" y="2948940"/>
            <a:ext cx="970309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02920" y="2148840"/>
            <a:ext cx="1452590" cy="160020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3183" y="2331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E5CE6"/>
          </a:solidFill>
          <a:ln/>
        </p:spPr>
      </p:sp>
      <p:pic>
        <p:nvPicPr>
          <p:cNvPr id="7" name="Image 0" descr="icons/facul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911" y="244144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2902" y="2203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" y="2926080"/>
            <a:ext cx="13062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Upload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3291840"/>
            <a:ext cx="13062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submitted with metadata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 rot="5400000">
            <a:off x="1964654" y="2875788"/>
            <a:ext cx="146304" cy="146304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2" name="Shape 9"/>
          <p:cNvSpPr/>
          <p:nvPr/>
        </p:nvSpPr>
        <p:spPr>
          <a:xfrm>
            <a:off x="2120102" y="2148840"/>
            <a:ext cx="1452590" cy="160020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90365" y="2331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pic>
        <p:nvPicPr>
          <p:cNvPr id="14" name="Image 1" descr="icons/ho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93" y="244144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80083" y="2203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93254" y="2926080"/>
            <a:ext cx="13062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Review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193254" y="3291840"/>
            <a:ext cx="13062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review &amp; approval</a:t>
            </a:r>
            <a:endParaRPr lang="en-US" sz="830" dirty="0"/>
          </a:p>
        </p:txBody>
      </p:sp>
      <p:sp>
        <p:nvSpPr>
          <p:cNvPr id="18" name="Shape 14"/>
          <p:cNvSpPr/>
          <p:nvPr/>
        </p:nvSpPr>
        <p:spPr>
          <a:xfrm rot="5400000">
            <a:off x="3581835" y="2875788"/>
            <a:ext cx="146304" cy="146304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Shape 15"/>
          <p:cNvSpPr/>
          <p:nvPr/>
        </p:nvSpPr>
        <p:spPr>
          <a:xfrm>
            <a:off x="3737283" y="2148840"/>
            <a:ext cx="1452590" cy="160020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07546" y="2331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pic>
        <p:nvPicPr>
          <p:cNvPr id="21" name="Image 2" descr="icons/princip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274" y="244144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97265" y="2203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810435" y="2926080"/>
            <a:ext cx="13062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Approval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810435" y="3291840"/>
            <a:ext cx="13062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institutional approval</a:t>
            </a:r>
            <a:endParaRPr lang="en-US" sz="830" dirty="0"/>
          </a:p>
        </p:txBody>
      </p:sp>
      <p:sp>
        <p:nvSpPr>
          <p:cNvPr id="25" name="Shape 20"/>
          <p:cNvSpPr/>
          <p:nvPr/>
        </p:nvSpPr>
        <p:spPr>
          <a:xfrm rot="5400000">
            <a:off x="5199017" y="2875788"/>
            <a:ext cx="146304" cy="146304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6" name="Shape 21"/>
          <p:cNvSpPr/>
          <p:nvPr/>
        </p:nvSpPr>
        <p:spPr>
          <a:xfrm>
            <a:off x="5354465" y="2148840"/>
            <a:ext cx="1452590" cy="160020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824728" y="2331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28" name="Image 3" descr="icons/signatu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44144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14447" y="2203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427617" y="2926080"/>
            <a:ext cx="13062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427617" y="3291840"/>
            <a:ext cx="13062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signature applied</a:t>
            </a:r>
            <a:endParaRPr lang="en-US" sz="830" dirty="0"/>
          </a:p>
        </p:txBody>
      </p:sp>
      <p:sp>
        <p:nvSpPr>
          <p:cNvPr id="32" name="Shape 26"/>
          <p:cNvSpPr/>
          <p:nvPr/>
        </p:nvSpPr>
        <p:spPr>
          <a:xfrm rot="5400000">
            <a:off x="6816199" y="2875788"/>
            <a:ext cx="146304" cy="146304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33" name="Shape 27"/>
          <p:cNvSpPr/>
          <p:nvPr/>
        </p:nvSpPr>
        <p:spPr>
          <a:xfrm>
            <a:off x="6971647" y="2148840"/>
            <a:ext cx="1452590" cy="160020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441910" y="2331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E5CE6"/>
          </a:solidFill>
          <a:ln/>
        </p:spPr>
      </p:sp>
      <p:pic>
        <p:nvPicPr>
          <p:cNvPr id="35" name="Image 4" descr="icons/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638" y="2441448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131629" y="2203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044799" y="2926080"/>
            <a:ext cx="13062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Repository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7044799" y="3291840"/>
            <a:ext cx="13062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central repository</a:t>
            </a:r>
            <a:endParaRPr lang="en-US" sz="830" dirty="0"/>
          </a:p>
        </p:txBody>
      </p:sp>
      <p:sp>
        <p:nvSpPr>
          <p:cNvPr id="39" name="Shape 32"/>
          <p:cNvSpPr/>
          <p:nvPr/>
        </p:nvSpPr>
        <p:spPr>
          <a:xfrm rot="5400000">
            <a:off x="8433381" y="2875788"/>
            <a:ext cx="146304" cy="146304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40" name="Shape 33"/>
          <p:cNvSpPr/>
          <p:nvPr/>
        </p:nvSpPr>
        <p:spPr>
          <a:xfrm>
            <a:off x="8588829" y="2148840"/>
            <a:ext cx="1452590" cy="160020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9059091" y="2331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pic>
        <p:nvPicPr>
          <p:cNvPr id="42" name="Image 5" descr="icons/qrcod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8819" y="2441448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748810" y="2203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8661981" y="2926080"/>
            <a:ext cx="13062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ID Verification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8661981" y="3291840"/>
            <a:ext cx="13062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check available</a:t>
            </a:r>
            <a:endParaRPr lang="en-US" sz="830" dirty="0"/>
          </a:p>
        </p:txBody>
      </p:sp>
      <p:sp>
        <p:nvSpPr>
          <p:cNvPr id="46" name="Shape 38"/>
          <p:cNvSpPr/>
          <p:nvPr/>
        </p:nvSpPr>
        <p:spPr>
          <a:xfrm rot="5400000">
            <a:off x="10050562" y="2875788"/>
            <a:ext cx="146304" cy="146304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47" name="Shape 39"/>
          <p:cNvSpPr/>
          <p:nvPr/>
        </p:nvSpPr>
        <p:spPr>
          <a:xfrm>
            <a:off x="10206010" y="2148840"/>
            <a:ext cx="1452590" cy="160020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10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10676273" y="2331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pic>
        <p:nvPicPr>
          <p:cNvPr id="49" name="Image 6" descr="icons/fingerprin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6001" y="2441448"/>
            <a:ext cx="292608" cy="29260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1365992" y="2203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10279162" y="2926080"/>
            <a:ext cx="13062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52" name="Text 43"/>
          <p:cNvSpPr/>
          <p:nvPr/>
        </p:nvSpPr>
        <p:spPr>
          <a:xfrm>
            <a:off x="10279162" y="3291840"/>
            <a:ext cx="13062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 logged</a:t>
            </a:r>
            <a:endParaRPr lang="en-US" sz="830" dirty="0"/>
          </a:p>
        </p:txBody>
      </p:sp>
      <p:sp>
        <p:nvSpPr>
          <p:cNvPr id="53" name="Shape 44"/>
          <p:cNvSpPr/>
          <p:nvPr/>
        </p:nvSpPr>
        <p:spPr>
          <a:xfrm>
            <a:off x="502920" y="4114800"/>
            <a:ext cx="11155680" cy="1691640"/>
          </a:xfrm>
          <a:prstGeom prst="roundRect">
            <a:avLst>
              <a:gd name="adj" fmla="val 4324"/>
            </a:avLst>
          </a:prstGeom>
          <a:solidFill>
            <a:srgbClr val="0F1B3D"/>
          </a:solidFill>
          <a:ln/>
        </p:spPr>
      </p:sp>
      <p:sp>
        <p:nvSpPr>
          <p:cNvPr id="54" name="Text 45"/>
          <p:cNvSpPr/>
          <p:nvPr/>
        </p:nvSpPr>
        <p:spPr>
          <a:xfrm>
            <a:off x="82296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LIFECYCLE, END TO END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in this flow — from the moment Faculty upload evidence to the point it is signed, stored, verifiable, and logged — is recorded as a discrete, timestamped action inside the SHA-256 audit trail, giving the institution a traceable and tamper-evident record of the entire approval journey.</a:t>
            </a:r>
            <a:endParaRPr lang="en-US" sz="1250" dirty="0"/>
          </a:p>
        </p:txBody>
      </p:sp>
      <p:sp>
        <p:nvSpPr>
          <p:cNvPr id="56" name="Text 47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SYSTEM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Functional Modules in the 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EDFC"/>
          </a:solidFill>
          <a:ln/>
        </p:spPr>
      </p:sp>
      <p:pic>
        <p:nvPicPr>
          <p:cNvPr id="6" name="Image 0" descr="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4650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2212848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RBAC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7512" y="269748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role-based workspace &amp; navigation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328416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1296" y="16459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EDFC"/>
          </a:solidFill>
          <a:ln/>
        </p:spPr>
      </p:sp>
      <p:pic>
        <p:nvPicPr>
          <p:cNvPr id="11" name="Image 1" descr="icons/upload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4650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212848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Submission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93008" y="269748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Metadata-tagged evidence upload by Faculty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6153912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6459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EDFC"/>
          </a:solidFill>
          <a:ln/>
        </p:spPr>
      </p:sp>
      <p:pic>
        <p:nvPicPr>
          <p:cNvPr id="16" name="Image 2" descr="icons/rout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74650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8504" y="2212848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318504" y="269748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→ HOD → Principal multi-stage review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8979408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62288" y="16459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EDFC"/>
          </a:solidFill>
          <a:ln/>
        </p:spPr>
      </p:sp>
      <p:pic>
        <p:nvPicPr>
          <p:cNvPr id="21" name="Image 3" descr="icons/databas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174650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2212848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Repository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144000" y="269748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searchable, filterable document listing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502920" y="363016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38130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EDFC"/>
          </a:solidFill>
          <a:ln/>
        </p:spPr>
      </p:sp>
      <p:pic>
        <p:nvPicPr>
          <p:cNvPr id="26" name="Image 4" descr="icons/signature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91363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7512" y="4379976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Simulation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67512" y="4864608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signer, reference ID &amp; signed date metadata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3328416" y="363016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11296" y="38130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EDFC"/>
          </a:solidFill>
          <a:ln/>
        </p:spPr>
      </p:sp>
      <p:pic>
        <p:nvPicPr>
          <p:cNvPr id="31" name="Image 5" descr="icons/fingerprin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91363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93008" y="4379976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Audit Trail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493008" y="4864608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log with integrity verification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6153912" y="363016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36792" y="38130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EDFC"/>
          </a:solidFill>
          <a:ln/>
        </p:spPr>
      </p:sp>
      <p:pic>
        <p:nvPicPr>
          <p:cNvPr id="36" name="Image 6" descr="icons/qrcod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3913632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18504" y="4379976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Document Verification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318504" y="4864608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Verification-ID based authenticity check</a:t>
            </a:r>
            <a:endParaRPr lang="en-US" sz="930" dirty="0"/>
          </a:p>
        </p:txBody>
      </p:sp>
      <p:sp>
        <p:nvSpPr>
          <p:cNvPr id="39" name="Shape 30"/>
          <p:cNvSpPr/>
          <p:nvPr/>
        </p:nvSpPr>
        <p:spPr>
          <a:xfrm>
            <a:off x="8979408" y="363016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162288" y="38130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EDFC"/>
          </a:solidFill>
          <a:ln/>
        </p:spPr>
      </p:sp>
      <p:pic>
        <p:nvPicPr>
          <p:cNvPr id="41" name="Image 7" descr="icons/chart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872" y="3913632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44000" y="4379976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Status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9144000" y="4864608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&amp; NAAC 7-criteria matrix</a:t>
            </a:r>
            <a:endParaRPr lang="en-US" sz="930" dirty="0"/>
          </a:p>
        </p:txBody>
      </p:sp>
      <p:sp>
        <p:nvSpPr>
          <p:cNvPr id="44" name="Text 34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61104" y="13258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4261104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9904" y="182880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35424" y="205740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2E5CE6"/>
          </a:solidFill>
          <a:ln/>
        </p:spPr>
      </p:sp>
      <p:sp>
        <p:nvSpPr>
          <p:cNvPr id="8" name="Text 6"/>
          <p:cNvSpPr/>
          <p:nvPr/>
        </p:nvSpPr>
        <p:spPr>
          <a:xfrm>
            <a:off x="4535424" y="2057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 Control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89904" y="2441448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2587752"/>
            <a:ext cx="8778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5104" y="2587752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" y="2761488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2E5CE6"/>
            </a:solidFill>
            <a:prstDash val="solid"/>
          </a:ln>
        </p:spPr>
      </p:sp>
      <p:pic>
        <p:nvPicPr>
          <p:cNvPr id="13" name="Image 0" descr="icons/uploa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2834640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" y="30906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18304" y="2587752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75304" y="2761488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17" name="Image 1" descr="icons/rout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83464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75304" y="30906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461504" y="2587752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18504" y="2761488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pic>
        <p:nvPicPr>
          <p:cNvPr id="21" name="Image 2" descr="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2834640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18504" y="30906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0204704" y="2587752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61704" y="2761488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25" name="Image 3" descr="icons/admi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283464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61704" y="30906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089904" y="3419856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529584" y="3621024"/>
            <a:ext cx="5120640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29" name="Image 4" descr="icons/signatur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370332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78224" y="3621024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Digital Signature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89904" y="4023360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529584" y="4151376"/>
            <a:ext cx="5120640" cy="40233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pic>
        <p:nvPicPr>
          <p:cNvPr id="33" name="Image 5" descr="icons/fingerprin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4233672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078224" y="4151376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Audit Trail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089904" y="4553712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3529584" y="4681728"/>
            <a:ext cx="512064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pic>
        <p:nvPicPr>
          <p:cNvPr id="37" name="Image 6" descr="icons/qrcod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4176" y="4764024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078224" y="4681728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Verification System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089904" y="5084064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3529584" y="5212080"/>
            <a:ext cx="5120640" cy="40233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pic>
        <p:nvPicPr>
          <p:cNvPr id="41" name="Image 7" descr="icons/databas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4176" y="5294376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078224" y="5212080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Evidence Repository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502920" y="58795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architecture — reflects functional layering of the implemented prototype.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Delivery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8EDFC"/>
          </a:solidFill>
          <a:ln/>
        </p:spPr>
      </p:sp>
      <p:pic>
        <p:nvPicPr>
          <p:cNvPr id="5" name="Image 0" descr="icons/cod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72768"/>
            <a:ext cx="10012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runs as a browser-based web application. The frontend stack confirmed below reflects what is implemented in the current build; backend, database, and hosting details will be added once finalized.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265176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28346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7ED"/>
          </a:solidFill>
          <a:ln/>
        </p:spPr>
      </p:sp>
      <p:pic>
        <p:nvPicPr>
          <p:cNvPr id="9" name="Image 1" descr="icons/layers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93522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3291840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04088" y="3547872"/>
            <a:ext cx="3191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web application, accessed via a standard browser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279392" y="265176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80560" y="28346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7ED"/>
          </a:solidFill>
          <a:ln/>
        </p:spPr>
      </p:sp>
      <p:pic>
        <p:nvPicPr>
          <p:cNvPr id="14" name="Image 2" descr="icons/cod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935224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3291840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Environment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480560" y="3547872"/>
            <a:ext cx="3191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from a local development host (seen as localhost:3000)</a:t>
            </a:r>
            <a:endParaRPr lang="en-US" sz="970" dirty="0"/>
          </a:p>
        </p:txBody>
      </p:sp>
      <p:sp>
        <p:nvSpPr>
          <p:cNvPr id="17" name="Shape 12"/>
          <p:cNvSpPr/>
          <p:nvPr/>
        </p:nvSpPr>
        <p:spPr>
          <a:xfrm>
            <a:off x="8055864" y="265176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57032" y="28346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7ED"/>
          </a:solidFill>
          <a:ln/>
        </p:spPr>
      </p:sp>
      <p:pic>
        <p:nvPicPr>
          <p:cNvPr id="19" name="Image 3" descr="icons/shield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2935224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57032" y="3291840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Model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257032" y="3547872"/>
            <a:ext cx="3191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Session-based, role-authenticated access confirmed in-app</a:t>
            </a:r>
            <a:endParaRPr lang="en-US" sz="970" dirty="0"/>
          </a:p>
        </p:txBody>
      </p:sp>
      <p:sp>
        <p:nvSpPr>
          <p:cNvPr id="22" name="Shape 16"/>
          <p:cNvSpPr/>
          <p:nvPr/>
        </p:nvSpPr>
        <p:spPr>
          <a:xfrm>
            <a:off x="502920" y="4160520"/>
            <a:ext cx="11155680" cy="2240280"/>
          </a:xfrm>
          <a:prstGeom prst="roundRect">
            <a:avLst>
              <a:gd name="adj" fmla="val 3265"/>
            </a:avLst>
          </a:prstGeom>
          <a:solidFill>
            <a:srgbClr val="0F1B3D"/>
          </a:solidFill>
          <a:ln/>
        </p:spPr>
      </p:sp>
      <p:pic>
        <p:nvPicPr>
          <p:cNvPr id="23" name="Image 4" descr="icons/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70832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435254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PROTOTYPE STACK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080760" y="4800600"/>
            <a:ext cx="0" cy="1444752"/>
          </a:xfrm>
          <a:prstGeom prst="line">
            <a:avLst/>
          </a:prstGeom>
          <a:noFill/>
          <a:ln w="12700">
            <a:solidFill>
              <a:srgbClr val="2C3D6E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22960" y="480060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pic>
        <p:nvPicPr>
          <p:cNvPr id="27" name="Image 5" descr="icon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02352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97280" y="50474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200" dirty="0"/>
          </a:p>
        </p:txBody>
      </p:sp>
      <p:pic>
        <p:nvPicPr>
          <p:cNvPr id="29" name="Image 6" descr="icons/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431536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97280" y="5376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pic>
        <p:nvPicPr>
          <p:cNvPr id="31" name="Image 7" descr="icons/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760720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097280" y="57058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pic>
        <p:nvPicPr>
          <p:cNvPr id="33" name="Image 8" descr="icons/check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6089904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097280" y="6035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6355080" y="480060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MODEL</a:t>
            </a:r>
            <a:endParaRPr lang="en-US" sz="1000" dirty="0"/>
          </a:p>
        </p:txBody>
      </p:sp>
      <p:pic>
        <p:nvPicPr>
          <p:cNvPr id="36" name="Image 9" descr="icons/check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5102352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629400" y="50474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web application</a:t>
            </a:r>
            <a:endParaRPr lang="en-US" sz="1100" dirty="0"/>
          </a:p>
        </p:txBody>
      </p:sp>
      <p:pic>
        <p:nvPicPr>
          <p:cNvPr id="38" name="Image 10" descr="icons/check_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5468112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629400" y="54132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authenticated workspaces</a:t>
            </a:r>
            <a:endParaRPr lang="en-US" sz="1100" dirty="0"/>
          </a:p>
        </p:txBody>
      </p:sp>
      <p:pic>
        <p:nvPicPr>
          <p:cNvPr id="40" name="Image 11" descr="icons/check_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5833872"/>
            <a:ext cx="182880" cy="18288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629400" y="5779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navigation and permissions</a:t>
            </a:r>
            <a:endParaRPr lang="en-US" sz="1100" dirty="0"/>
          </a:p>
        </p:txBody>
      </p:sp>
      <p:sp>
        <p:nvSpPr>
          <p:cNvPr id="42" name="Text 28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43" name="Text 29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 — Screen Gallery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435608"/>
            <a:ext cx="3666744" cy="2386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5" name="Image 0" descr="images/cropped/Screenshot_2026-08-16_14375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361188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465576"/>
            <a:ext cx="361188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12648" y="346557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Submission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88536" y="1435608"/>
            <a:ext cx="3666744" cy="2386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9" name="Image 1" descr="images/cropped/Screenshot_2026-08-16_14572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15968" y="1463040"/>
            <a:ext cx="3611880" cy="2331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15968" y="3465576"/>
            <a:ext cx="361188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4425696" y="346557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Approval Queue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01584" y="1435608"/>
            <a:ext cx="3666744" cy="2386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13" name="Image 2" descr="images/cropped/Screenshot_2026-08-16_14583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9016" y="1463040"/>
            <a:ext cx="3611880" cy="23317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29016" y="3465576"/>
            <a:ext cx="361188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8238744" y="346557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Repository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" y="3968496"/>
            <a:ext cx="3666744" cy="2386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17" name="Image 3" descr="images/cropped/Screenshot_2026-08-16_14583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995928"/>
            <a:ext cx="3611880" cy="23317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2920" y="5998464"/>
            <a:ext cx="361188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612648" y="5998464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Details &amp; QR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288536" y="3968496"/>
            <a:ext cx="3666744" cy="2386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21" name="Image 4" descr="images/cropped/Screenshot_2026-08-16_145932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15968" y="3995928"/>
            <a:ext cx="3611880" cy="233172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315968" y="5998464"/>
            <a:ext cx="361188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4425696" y="5998464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Status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01584" y="3968496"/>
            <a:ext cx="3666744" cy="2386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25" name="Image 5" descr="images/cropped/Screenshot_2026-08-16_150114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9016" y="3995928"/>
            <a:ext cx="3611880" cy="23317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129016" y="5998464"/>
            <a:ext cx="361188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27" name="Text 19"/>
          <p:cNvSpPr/>
          <p:nvPr/>
        </p:nvSpPr>
        <p:spPr>
          <a:xfrm>
            <a:off x="8238744" y="5998464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AUDIT &amp;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Tamper-Evidence, Detection &amp; Document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272491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664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5CE6"/>
          </a:solidFill>
          <a:ln/>
        </p:spPr>
      </p:sp>
      <p:pic>
        <p:nvPicPr>
          <p:cNvPr id="7" name="Image 0" descr="icons/fingerpri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7393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212848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Tamper-Evident Audit Trail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" y="2898648"/>
            <a:ext cx="64008" cy="64008"/>
          </a:xfrm>
          <a:prstGeom prst="oval">
            <a:avLst/>
          </a:prstGeom>
          <a:solidFill>
            <a:srgbClr val="2E5CE6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346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audit events using previous/current hash values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685800" y="3465576"/>
            <a:ext cx="64008" cy="64008"/>
          </a:xfrm>
          <a:prstGeom prst="oval">
            <a:avLst/>
          </a:prstGeom>
          <a:solidFill>
            <a:srgbClr val="2E5CE6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40156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detect any modification of audit records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85800" y="4032504"/>
            <a:ext cx="64008" cy="64008"/>
          </a:xfrm>
          <a:prstGeom prst="oval">
            <a:avLst/>
          </a:prstGeom>
          <a:solidFill>
            <a:srgbClr val="2E5CE6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968496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on-demand integrity verification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3355848" y="146304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55848" y="1463040"/>
            <a:ext cx="272491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538728" y="1664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8" name="Image 1" descr="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773936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38728" y="2212848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Detection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538728" y="2898648"/>
            <a:ext cx="64008" cy="64008"/>
          </a:xfrm>
          <a:prstGeom prst="oval">
            <a:avLst/>
          </a:prstGeom>
          <a:solidFill>
            <a:srgbClr val="D97706"/>
          </a:solidFill>
          <a:ln/>
        </p:spPr>
      </p:sp>
      <p:sp>
        <p:nvSpPr>
          <p:cNvPr id="21" name="Text 17"/>
          <p:cNvSpPr/>
          <p:nvPr/>
        </p:nvSpPr>
        <p:spPr>
          <a:xfrm>
            <a:off x="3721608" y="28346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tampering produces a hash mismatch</a:t>
            </a:r>
            <a:endParaRPr lang="en-US" sz="930" dirty="0"/>
          </a:p>
        </p:txBody>
      </p:sp>
      <p:sp>
        <p:nvSpPr>
          <p:cNvPr id="22" name="Shape 18"/>
          <p:cNvSpPr/>
          <p:nvPr/>
        </p:nvSpPr>
        <p:spPr>
          <a:xfrm>
            <a:off x="3538728" y="3465576"/>
            <a:ext cx="64008" cy="64008"/>
          </a:xfrm>
          <a:prstGeom prst="oval">
            <a:avLst/>
          </a:prstGeom>
          <a:solidFill>
            <a:srgbClr val="D97706"/>
          </a:solidFill>
          <a:ln/>
        </p:spPr>
      </p:sp>
      <p:sp>
        <p:nvSpPr>
          <p:cNvPr id="23" name="Text 19"/>
          <p:cNvSpPr/>
          <p:nvPr/>
        </p:nvSpPr>
        <p:spPr>
          <a:xfrm>
            <a:off x="3721608" y="340156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 and reports the mismatch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3538728" y="4032504"/>
            <a:ext cx="64008" cy="64008"/>
          </a:xfrm>
          <a:prstGeom prst="oval">
            <a:avLst/>
          </a:prstGeom>
          <a:solidFill>
            <a:srgbClr val="D97706"/>
          </a:solidFill>
          <a:ln/>
        </p:spPr>
      </p:sp>
      <p:sp>
        <p:nvSpPr>
          <p:cNvPr id="25" name="Text 21"/>
          <p:cNvSpPr/>
          <p:nvPr/>
        </p:nvSpPr>
        <p:spPr>
          <a:xfrm>
            <a:off x="3721608" y="3968496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log can be restored on demand</a:t>
            </a:r>
            <a:endParaRPr lang="en-US" sz="930" dirty="0"/>
          </a:p>
        </p:txBody>
      </p:sp>
      <p:sp>
        <p:nvSpPr>
          <p:cNvPr id="26" name="Shape 22"/>
          <p:cNvSpPr/>
          <p:nvPr/>
        </p:nvSpPr>
        <p:spPr>
          <a:xfrm>
            <a:off x="6208776" y="146304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08776" y="1463040"/>
            <a:ext cx="272491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4"/>
          <p:cNvSpPr/>
          <p:nvPr/>
        </p:nvSpPr>
        <p:spPr>
          <a:xfrm>
            <a:off x="6391656" y="1664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pic>
        <p:nvPicPr>
          <p:cNvPr id="29" name="Image 2" descr="icons/qr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773936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91656" y="2212848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391656" y="2898648"/>
            <a:ext cx="64008" cy="6400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2" name="Text 27"/>
          <p:cNvSpPr/>
          <p:nvPr/>
        </p:nvSpPr>
        <p:spPr>
          <a:xfrm>
            <a:off x="6574536" y="28346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verification-ID based lookup</a:t>
            </a:r>
            <a:endParaRPr lang="en-US" sz="930" dirty="0"/>
          </a:p>
        </p:txBody>
      </p:sp>
      <p:sp>
        <p:nvSpPr>
          <p:cNvPr id="33" name="Shape 28"/>
          <p:cNvSpPr/>
          <p:nvPr/>
        </p:nvSpPr>
        <p:spPr>
          <a:xfrm>
            <a:off x="6391656" y="3465576"/>
            <a:ext cx="64008" cy="6400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4" name="Text 29"/>
          <p:cNvSpPr/>
          <p:nvPr/>
        </p:nvSpPr>
        <p:spPr>
          <a:xfrm>
            <a:off x="6574536" y="340156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document → verification succeeds</a:t>
            </a:r>
            <a:endParaRPr lang="en-US" sz="930" dirty="0"/>
          </a:p>
        </p:txBody>
      </p:sp>
      <p:sp>
        <p:nvSpPr>
          <p:cNvPr id="35" name="Shape 30"/>
          <p:cNvSpPr/>
          <p:nvPr/>
        </p:nvSpPr>
        <p:spPr>
          <a:xfrm>
            <a:off x="6391656" y="4032504"/>
            <a:ext cx="64008" cy="6400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6" name="Text 31"/>
          <p:cNvSpPr/>
          <p:nvPr/>
        </p:nvSpPr>
        <p:spPr>
          <a:xfrm>
            <a:off x="6574536" y="3968496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ID → verification correctly fails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9061704" y="146304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93B">
                <a:alpha val="8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9061704" y="1463040"/>
            <a:ext cx="2724912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4"/>
          <p:cNvSpPr/>
          <p:nvPr/>
        </p:nvSpPr>
        <p:spPr>
          <a:xfrm>
            <a:off x="9244584" y="1664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pic>
        <p:nvPicPr>
          <p:cNvPr id="40" name="Image 3" descr="icons/signatu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1773936"/>
            <a:ext cx="237744" cy="237744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244584" y="2212848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9244584" y="2898648"/>
            <a:ext cx="64008" cy="6400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43" name="Text 37"/>
          <p:cNvSpPr/>
          <p:nvPr/>
        </p:nvSpPr>
        <p:spPr>
          <a:xfrm>
            <a:off x="9427464" y="28346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 simulated signature only</a:t>
            </a:r>
            <a:endParaRPr lang="en-US" sz="930" dirty="0"/>
          </a:p>
        </p:txBody>
      </p:sp>
      <p:sp>
        <p:nvSpPr>
          <p:cNvPr id="44" name="Shape 38"/>
          <p:cNvSpPr/>
          <p:nvPr/>
        </p:nvSpPr>
        <p:spPr>
          <a:xfrm>
            <a:off x="9244584" y="3465576"/>
            <a:ext cx="64008" cy="6400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45" name="Text 39"/>
          <p:cNvSpPr/>
          <p:nvPr/>
        </p:nvSpPr>
        <p:spPr>
          <a:xfrm>
            <a:off x="9427464" y="340156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signer &amp; signature metadata</a:t>
            </a:r>
            <a:endParaRPr lang="en-US" sz="930" dirty="0"/>
          </a:p>
        </p:txBody>
      </p:sp>
      <p:sp>
        <p:nvSpPr>
          <p:cNvPr id="46" name="Shape 40"/>
          <p:cNvSpPr/>
          <p:nvPr/>
        </p:nvSpPr>
        <p:spPr>
          <a:xfrm>
            <a:off x="9244584" y="4032504"/>
            <a:ext cx="64008" cy="6400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47" name="Text 41"/>
          <p:cNvSpPr/>
          <p:nvPr/>
        </p:nvSpPr>
        <p:spPr>
          <a:xfrm>
            <a:off x="9427464" y="3968496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eSign / DSC integration is future scope</a:t>
            </a:r>
            <a:endParaRPr lang="en-US" sz="930" dirty="0"/>
          </a:p>
        </p:txBody>
      </p:sp>
      <p:sp>
        <p:nvSpPr>
          <p:cNvPr id="48" name="Shape 42"/>
          <p:cNvSpPr/>
          <p:nvPr/>
        </p:nvSpPr>
        <p:spPr>
          <a:xfrm>
            <a:off x="475488" y="4864608"/>
            <a:ext cx="366674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49" name="Image 4" descr="images/cropped/Screenshot_2026-08-16_15005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" y="4892040"/>
            <a:ext cx="3611880" cy="1600200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502920" y="6163056"/>
            <a:ext cx="361188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51" name="Text 44"/>
          <p:cNvSpPr/>
          <p:nvPr/>
        </p:nvSpPr>
        <p:spPr>
          <a:xfrm>
            <a:off x="612648" y="616305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Tamper Detection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4224528" y="4864608"/>
            <a:ext cx="366674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53" name="Image 5" descr="images/cropped/Screenshot_2026-08-16_150033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251960" y="4892040"/>
            <a:ext cx="3611880" cy="1600200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4251960" y="6163056"/>
            <a:ext cx="361188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55" name="Text 47"/>
          <p:cNvSpPr/>
          <p:nvPr/>
        </p:nvSpPr>
        <p:spPr>
          <a:xfrm>
            <a:off x="4361688" y="616305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Integrity Verified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7973568" y="4864608"/>
            <a:ext cx="366674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57" name="Image 6" descr="images/cropped/Screenshot_2026-08-16_145954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001000" y="4892040"/>
            <a:ext cx="3611880" cy="1600200"/>
          </a:xfrm>
          <a:prstGeom prst="rect">
            <a:avLst/>
          </a:prstGeom>
        </p:spPr>
      </p:pic>
      <p:sp>
        <p:nvSpPr>
          <p:cNvPr id="58" name="Shape 49"/>
          <p:cNvSpPr/>
          <p:nvPr/>
        </p:nvSpPr>
        <p:spPr>
          <a:xfrm>
            <a:off x="8001000" y="6163056"/>
            <a:ext cx="3611880" cy="329184"/>
          </a:xfrm>
          <a:prstGeom prst="rect">
            <a:avLst/>
          </a:prstGeom>
          <a:solidFill>
            <a:srgbClr val="0F1B3D">
              <a:alpha val="88000"/>
            </a:srgbClr>
          </a:solidFill>
          <a:ln/>
        </p:spPr>
      </p:sp>
      <p:sp>
        <p:nvSpPr>
          <p:cNvPr id="59" name="Text 50"/>
          <p:cNvSpPr/>
          <p:nvPr/>
        </p:nvSpPr>
        <p:spPr>
          <a:xfrm>
            <a:off x="8110728" y="616305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Audit Trail</a:t>
            </a:r>
            <a:endParaRPr lang="en-US" sz="1100" dirty="0"/>
          </a:p>
        </p:txBody>
      </p:sp>
      <p:sp>
        <p:nvSpPr>
          <p:cNvPr id="60" name="Text 5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AccrediVault  |  NAAC &amp; NBA Accreditation Evidence Management Platform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4887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oval">
            <a:avLst/>
          </a:prstGeom>
          <a:solidFill>
            <a:srgbClr val="16234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480560"/>
            <a:ext cx="5029200" cy="5029200"/>
          </a:xfrm>
          <a:prstGeom prst="oval">
            <a:avLst/>
          </a:prstGeom>
          <a:solidFill>
            <a:srgbClr val="16234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Prototype to Institutional Readiness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</p:sp>
      <p:pic>
        <p:nvPicPr>
          <p:cNvPr id="7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361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084832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10" name="Image 1" descr="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2219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8408" y="2084832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accreditation evidence management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02920" y="2660904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13" name="Image 2" descr="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79806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8408" y="2660904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paper-based, manual processes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502920" y="3236976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16" name="Image 3" descr="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37413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8408" y="3236976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role-specific access for five roles</a:t>
            </a:r>
            <a:endParaRPr lang="en-US" sz="1080" dirty="0"/>
          </a:p>
        </p:txBody>
      </p:sp>
      <p:sp>
        <p:nvSpPr>
          <p:cNvPr id="18" name="Shape 12"/>
          <p:cNvSpPr/>
          <p:nvPr/>
        </p:nvSpPr>
        <p:spPr>
          <a:xfrm>
            <a:off x="502920" y="3813048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19" name="Image 4" descr="icon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950208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78408" y="3813048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 multi-stage digital approval workflow</a:t>
            </a:r>
            <a:endParaRPr lang="en-US" sz="1080" dirty="0"/>
          </a:p>
        </p:txBody>
      </p:sp>
      <p:sp>
        <p:nvSpPr>
          <p:cNvPr id="21" name="Shape 14"/>
          <p:cNvSpPr/>
          <p:nvPr/>
        </p:nvSpPr>
        <p:spPr>
          <a:xfrm>
            <a:off x="502920" y="4389120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22" name="Image 5" descr="icon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526280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8408" y="4389120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traceable, hash-chained audit records</a:t>
            </a:r>
            <a:endParaRPr lang="en-US" sz="1080" dirty="0"/>
          </a:p>
        </p:txBody>
      </p:sp>
      <p:sp>
        <p:nvSpPr>
          <p:cNvPr id="24" name="Shape 16"/>
          <p:cNvSpPr/>
          <p:nvPr/>
        </p:nvSpPr>
        <p:spPr>
          <a:xfrm>
            <a:off x="502920" y="4965192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25" name="Image 6" descr="icons/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5102352"/>
            <a:ext cx="219456" cy="2194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78408" y="4965192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QR / ID based document verification</a:t>
            </a:r>
            <a:endParaRPr lang="en-US" sz="1080" dirty="0"/>
          </a:p>
        </p:txBody>
      </p:sp>
      <p:sp>
        <p:nvSpPr>
          <p:cNvPr id="27" name="Shape 18"/>
          <p:cNvSpPr/>
          <p:nvPr/>
        </p:nvSpPr>
        <p:spPr>
          <a:xfrm>
            <a:off x="502920" y="5541264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28" name="Image 7" descr="icons/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5678424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78408" y="5541264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accreditation readiness monitoring</a:t>
            </a:r>
            <a:endParaRPr lang="en-US" sz="1080" dirty="0"/>
          </a:p>
        </p:txBody>
      </p:sp>
      <p:sp>
        <p:nvSpPr>
          <p:cNvPr id="30" name="Shape 20"/>
          <p:cNvSpPr/>
          <p:nvPr/>
        </p:nvSpPr>
        <p:spPr>
          <a:xfrm>
            <a:off x="6126480" y="1417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D97706"/>
          </a:solidFill>
          <a:ln/>
        </p:spPr>
      </p:sp>
      <p:pic>
        <p:nvPicPr>
          <p:cNvPr id="31" name="Image 8" descr="icons/flag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1536192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720840" y="14173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33" name="Shape 22"/>
          <p:cNvSpPr/>
          <p:nvPr/>
        </p:nvSpPr>
        <p:spPr>
          <a:xfrm>
            <a:off x="6126480" y="2084832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34" name="Image 9" descr="icons/flag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2221992"/>
            <a:ext cx="219456" cy="21945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601968" y="2084832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digital signature / eSign / DSC integration</a:t>
            </a:r>
            <a:endParaRPr lang="en-US" sz="1080" dirty="0"/>
          </a:p>
        </p:txBody>
      </p:sp>
      <p:sp>
        <p:nvSpPr>
          <p:cNvPr id="36" name="Shape 24"/>
          <p:cNvSpPr/>
          <p:nvPr/>
        </p:nvSpPr>
        <p:spPr>
          <a:xfrm>
            <a:off x="6126480" y="2660904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37" name="Image 10" descr="icons/flag_amb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2784" y="2798064"/>
            <a:ext cx="219456" cy="21945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601968" y="2660904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for institution-wide access</a:t>
            </a:r>
            <a:endParaRPr lang="en-US" sz="1080" dirty="0"/>
          </a:p>
        </p:txBody>
      </p:sp>
      <p:sp>
        <p:nvSpPr>
          <p:cNvPr id="39" name="Shape 26"/>
          <p:cNvSpPr/>
          <p:nvPr/>
        </p:nvSpPr>
        <p:spPr>
          <a:xfrm>
            <a:off x="6126480" y="3236976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40" name="Image 11" descr="icons/flag_amb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3374136"/>
            <a:ext cx="219456" cy="219456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601968" y="3236976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and reminders</a:t>
            </a:r>
            <a:endParaRPr lang="en-US" sz="1080" dirty="0"/>
          </a:p>
        </p:txBody>
      </p:sp>
      <p:sp>
        <p:nvSpPr>
          <p:cNvPr id="42" name="Shape 28"/>
          <p:cNvSpPr/>
          <p:nvPr/>
        </p:nvSpPr>
        <p:spPr>
          <a:xfrm>
            <a:off x="6126480" y="3813048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43" name="Image 12" descr="icons/flag_amb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2784" y="3950208"/>
            <a:ext cx="219456" cy="219456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601968" y="3813048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accreditation analytics &amp; reporting</a:t>
            </a:r>
            <a:endParaRPr lang="en-US" sz="1080" dirty="0"/>
          </a:p>
        </p:txBody>
      </p:sp>
      <p:sp>
        <p:nvSpPr>
          <p:cNvPr id="45" name="Shape 30"/>
          <p:cNvSpPr/>
          <p:nvPr/>
        </p:nvSpPr>
        <p:spPr>
          <a:xfrm>
            <a:off x="6126480" y="4389120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46" name="Image 13" descr="icons/flag_amb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2784" y="4526280"/>
            <a:ext cx="219456" cy="219456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601968" y="4389120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institutional ERP systems</a:t>
            </a:r>
            <a:endParaRPr lang="en-US" sz="1080" dirty="0"/>
          </a:p>
        </p:txBody>
      </p:sp>
      <p:sp>
        <p:nvSpPr>
          <p:cNvPr id="48" name="Shape 32"/>
          <p:cNvSpPr/>
          <p:nvPr/>
        </p:nvSpPr>
        <p:spPr>
          <a:xfrm>
            <a:off x="6126480" y="4965192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16234F"/>
          </a:solidFill>
          <a:ln/>
        </p:spPr>
      </p:sp>
      <p:pic>
        <p:nvPicPr>
          <p:cNvPr id="49" name="Image 14" descr="icons/flag_amb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2784" y="5102352"/>
            <a:ext cx="219456" cy="219456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6601968" y="4965192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security, backup and compliance</a:t>
            </a:r>
            <a:endParaRPr lang="en-US" sz="1080" dirty="0"/>
          </a:p>
        </p:txBody>
      </p:sp>
      <p:sp>
        <p:nvSpPr>
          <p:cNvPr id="51" name="Text 34"/>
          <p:cNvSpPr/>
          <p:nvPr/>
        </p:nvSpPr>
        <p:spPr>
          <a:xfrm>
            <a:off x="502920" y="6263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2" name="Text 35"/>
          <p:cNvSpPr/>
          <p:nvPr/>
        </p:nvSpPr>
        <p:spPr>
          <a:xfrm>
            <a:off x="11548872" y="6446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2026-08-16T11:27:42Z</dcterms:created>
  <dcterms:modified xsi:type="dcterms:W3CDTF">2026-08-16T11:27:42Z</dcterms:modified>
</cp:coreProperties>
</file>